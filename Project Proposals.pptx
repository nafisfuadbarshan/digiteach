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5"/>
  </p:notesMasterIdLst>
  <p:sldIdLst>
    <p:sldId id="256" r:id="rId2"/>
    <p:sldId id="257" r:id="rId3"/>
    <p:sldId id="259" r:id="rId4"/>
    <p:sldId id="269" r:id="rId5"/>
    <p:sldId id="260" r:id="rId6"/>
    <p:sldId id="266" r:id="rId7"/>
    <p:sldId id="261" r:id="rId8"/>
    <p:sldId id="264" r:id="rId9"/>
    <p:sldId id="267" r:id="rId10"/>
    <p:sldId id="263" r:id="rId11"/>
    <p:sldId id="272" r:id="rId12"/>
    <p:sldId id="271"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13" d="100"/>
          <a:sy n="113" d="100"/>
        </p:scale>
        <p:origin x="510" y="102"/>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6DB4A-4C21-47FC-8A74-F8F1BAFA8DAB}" type="datetimeFigureOut">
              <a:rPr lang="en-US" smtClean="0"/>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C48B1-EFFF-4428-9DB3-41BD1B6BF4B3}" type="slidenum">
              <a:rPr lang="en-US" smtClean="0"/>
              <a:t>‹#›</a:t>
            </a:fld>
            <a:endParaRPr lang="en-US"/>
          </a:p>
        </p:txBody>
      </p:sp>
    </p:spTree>
    <p:extLst>
      <p:ext uri="{BB962C8B-B14F-4D97-AF65-F5344CB8AC3E}">
        <p14:creationId xmlns:p14="http://schemas.microsoft.com/office/powerpoint/2010/main" val="2592562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398F2EB-7000-44A3-9A17-7C6B02887B6B}" type="datetimeFigureOut">
              <a:rPr lang="en-GB" smtClean="0"/>
              <a:t>30/09/2024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582357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98F2EB-7000-44A3-9A17-7C6B02887B6B}" type="datetimeFigureOut">
              <a:rPr lang="en-GB" smtClean="0"/>
              <a:t>30/09/2024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837396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98F2EB-7000-44A3-9A17-7C6B02887B6B}" type="datetimeFigureOut">
              <a:rPr lang="en-GB" smtClean="0"/>
              <a:t>30/09/2024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422925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834487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98F2EB-7000-44A3-9A17-7C6B02887B6B}" type="datetimeFigureOut">
              <a:rPr lang="en-GB" smtClean="0"/>
              <a:t>30/09/2024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111860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98F2EB-7000-44A3-9A17-7C6B02887B6B}" type="datetimeFigureOut">
              <a:rPr lang="en-GB" smtClean="0"/>
              <a:t>30/09/2024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1629711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8F2EB-7000-44A3-9A17-7C6B02887B6B}" type="datetimeFigureOut">
              <a:rPr lang="en-GB" smtClean="0"/>
              <a:t>30/09/2024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252318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1818322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85276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3041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42569483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266753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98F2EB-7000-44A3-9A17-7C6B02887B6B}" type="datetimeFigureOut">
              <a:rPr lang="en-GB" smtClean="0"/>
              <a:t>30/09/2024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11665611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398F2EB-7000-44A3-9A17-7C6B02887B6B}" type="datetimeFigureOut">
              <a:rPr lang="en-GB" smtClean="0"/>
              <a:t>30/09/2024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8749878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398F2EB-7000-44A3-9A17-7C6B02887B6B}" type="datetimeFigureOut">
              <a:rPr lang="en-GB" smtClean="0"/>
              <a:t>30/09/2024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1328334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98F2EB-7000-44A3-9A17-7C6B02887B6B}" type="datetimeFigureOut">
              <a:rPr lang="en-GB" smtClean="0"/>
              <a:t>30/09/2024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32641895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98F2EB-7000-44A3-9A17-7C6B02887B6B}" type="datetimeFigureOut">
              <a:rPr lang="en-GB" smtClean="0"/>
              <a:t>30/09/2024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95EFA69-61A5-492D-911D-199B6A46D88B}" type="slidenum">
              <a:rPr lang="en-GB" smtClean="0"/>
              <a:t>‹#›</a:t>
            </a:fld>
            <a:endParaRPr lang="en-GB"/>
          </a:p>
        </p:txBody>
      </p:sp>
    </p:spTree>
    <p:extLst>
      <p:ext uri="{BB962C8B-B14F-4D97-AF65-F5344CB8AC3E}">
        <p14:creationId xmlns:p14="http://schemas.microsoft.com/office/powerpoint/2010/main" val="2230048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398F2EB-7000-44A3-9A17-7C6B02887B6B}" type="datetimeFigureOut">
              <a:rPr lang="en-GB" smtClean="0"/>
              <a:t>30/09/2024</a:t>
            </a:fld>
            <a:endParaRPr lang="en-GB"/>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GB"/>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95EFA69-61A5-492D-911D-199B6A46D88B}" type="slidenum">
              <a:rPr lang="en-GB" smtClean="0"/>
              <a:t>‹#›</a:t>
            </a:fld>
            <a:endParaRPr lang="en-GB"/>
          </a:p>
        </p:txBody>
      </p:sp>
    </p:spTree>
    <p:extLst>
      <p:ext uri="{BB962C8B-B14F-4D97-AF65-F5344CB8AC3E}">
        <p14:creationId xmlns:p14="http://schemas.microsoft.com/office/powerpoint/2010/main" val="4259865580"/>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DDEE107-5EF0-4C76-B689-56B43EE7DB3C}"/>
              </a:ext>
            </a:extLst>
          </p:cNvPr>
          <p:cNvSpPr txBox="1"/>
          <p:nvPr/>
        </p:nvSpPr>
        <p:spPr>
          <a:xfrm>
            <a:off x="1629704" y="2615994"/>
            <a:ext cx="4605300" cy="1015663"/>
          </a:xfrm>
          <a:prstGeom prst="rect">
            <a:avLst/>
          </a:prstGeom>
          <a:noFill/>
        </p:spPr>
        <p:txBody>
          <a:bodyPr wrap="none" rtlCol="0">
            <a:spAutoFit/>
          </a:bodyPr>
          <a:lstStyle/>
          <a:p>
            <a:pPr algn="ctr"/>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Web Design</a:t>
            </a:r>
          </a:p>
        </p:txBody>
      </p:sp>
      <p:sp>
        <p:nvSpPr>
          <p:cNvPr id="6" name="Rectangle 5">
            <a:extLst>
              <a:ext uri="{FF2B5EF4-FFF2-40B4-BE49-F238E27FC236}">
                <a16:creationId xmlns:a16="http://schemas.microsoft.com/office/drawing/2014/main" id="{0AD23B60-2764-4587-8A04-6908AD3E550E}"/>
              </a:ext>
            </a:extLst>
          </p:cNvPr>
          <p:cNvSpPr/>
          <p:nvPr/>
        </p:nvSpPr>
        <p:spPr>
          <a:xfrm>
            <a:off x="1695203" y="1808284"/>
            <a:ext cx="3668505" cy="923330"/>
          </a:xfrm>
          <a:prstGeom prst="rect">
            <a:avLst/>
          </a:prstGeom>
          <a:noFill/>
        </p:spPr>
        <p:txBody>
          <a:bodyPr wrap="none" lIns="91440" tIns="45720" rIns="91440" bIns="45720">
            <a:spAutoFit/>
          </a:bodyPr>
          <a:lstStyle/>
          <a:p>
            <a:pPr algn="ctr"/>
            <a:r>
              <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Visual and</a:t>
            </a:r>
          </a:p>
        </p:txBody>
      </p:sp>
      <p:sp>
        <p:nvSpPr>
          <p:cNvPr id="7" name="TextBox 6">
            <a:extLst>
              <a:ext uri="{FF2B5EF4-FFF2-40B4-BE49-F238E27FC236}">
                <a16:creationId xmlns:a16="http://schemas.microsoft.com/office/drawing/2014/main" id="{2D3707A3-CA9C-4766-B100-6498BEF71A61}"/>
              </a:ext>
            </a:extLst>
          </p:cNvPr>
          <p:cNvSpPr txBox="1"/>
          <p:nvPr/>
        </p:nvSpPr>
        <p:spPr>
          <a:xfrm>
            <a:off x="1695203" y="3542783"/>
            <a:ext cx="7180877" cy="923330"/>
          </a:xfrm>
          <a:prstGeom prst="rect">
            <a:avLst/>
          </a:prstGeom>
          <a:noFill/>
        </p:spPr>
        <p:txBody>
          <a:bodyPr wrap="none" rtlCol="0">
            <a:spAutoFit/>
          </a:bodyPr>
          <a:lstStyle/>
          <a:p>
            <a:pPr algn="ctr"/>
            <a:r>
              <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Lab Project Proposal</a:t>
            </a:r>
          </a:p>
        </p:txBody>
      </p:sp>
      <p:sp>
        <p:nvSpPr>
          <p:cNvPr id="8" name="TextBox 7">
            <a:extLst>
              <a:ext uri="{FF2B5EF4-FFF2-40B4-BE49-F238E27FC236}">
                <a16:creationId xmlns:a16="http://schemas.microsoft.com/office/drawing/2014/main" id="{D3593710-3F4F-4FCA-A84F-F7932F970E85}"/>
              </a:ext>
            </a:extLst>
          </p:cNvPr>
          <p:cNvSpPr txBox="1"/>
          <p:nvPr/>
        </p:nvSpPr>
        <p:spPr>
          <a:xfrm>
            <a:off x="1761066" y="4513263"/>
            <a:ext cx="4769254" cy="461665"/>
          </a:xfrm>
          <a:prstGeom prst="rect">
            <a:avLst/>
          </a:prstGeom>
          <a:noFill/>
        </p:spPr>
        <p:txBody>
          <a:bodyPr wrap="none" rtlCol="0">
            <a:spAutoFit/>
          </a:bodyPr>
          <a:lstStyle/>
          <a:p>
            <a:r>
              <a:rPr lang="en-GB" sz="2400" dirty="0"/>
              <a:t>Course Code: CSE310, Section: B1</a:t>
            </a:r>
          </a:p>
        </p:txBody>
      </p:sp>
      <p:sp>
        <p:nvSpPr>
          <p:cNvPr id="9" name="TextBox 8">
            <a:extLst>
              <a:ext uri="{FF2B5EF4-FFF2-40B4-BE49-F238E27FC236}">
                <a16:creationId xmlns:a16="http://schemas.microsoft.com/office/drawing/2014/main" id="{FC00E72B-43E2-471E-9261-B7E8EBAC3475}"/>
              </a:ext>
            </a:extLst>
          </p:cNvPr>
          <p:cNvSpPr txBox="1"/>
          <p:nvPr/>
        </p:nvSpPr>
        <p:spPr>
          <a:xfrm>
            <a:off x="1761066" y="4974928"/>
            <a:ext cx="3526735" cy="461665"/>
          </a:xfrm>
          <a:prstGeom prst="rect">
            <a:avLst/>
          </a:prstGeom>
          <a:noFill/>
        </p:spPr>
        <p:txBody>
          <a:bodyPr wrap="none" rtlCol="0">
            <a:spAutoFit/>
          </a:bodyPr>
          <a:lstStyle/>
          <a:p>
            <a:r>
              <a:rPr lang="en-GB" sz="2400" dirty="0"/>
              <a:t>Instructor: </a:t>
            </a:r>
            <a:r>
              <a:rPr lang="en-GB" sz="2400" dirty="0" err="1"/>
              <a:t>Durjoy</a:t>
            </a:r>
            <a:r>
              <a:rPr lang="en-GB" sz="2400" dirty="0"/>
              <a:t> Mistry</a:t>
            </a:r>
          </a:p>
        </p:txBody>
      </p:sp>
      <p:sp>
        <p:nvSpPr>
          <p:cNvPr id="11" name="Rectangle 1">
            <a:extLst>
              <a:ext uri="{FF2B5EF4-FFF2-40B4-BE49-F238E27FC236}">
                <a16:creationId xmlns:a16="http://schemas.microsoft.com/office/drawing/2014/main" id="{30B4C3A7-2661-49F4-A179-B2C162353EEE}"/>
              </a:ext>
            </a:extLst>
          </p:cNvPr>
          <p:cNvSpPr>
            <a:spLocks noChangeArrowheads="1"/>
          </p:cNvSpPr>
          <p:nvPr/>
        </p:nvSpPr>
        <p:spPr bwMode="auto">
          <a:xfrm>
            <a:off x="914400" y="359886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32060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8241A4-0465-42E2-A1EE-10F101AEA18A}"/>
              </a:ext>
            </a:extLst>
          </p:cNvPr>
          <p:cNvSpPr/>
          <p:nvPr/>
        </p:nvSpPr>
        <p:spPr>
          <a:xfrm>
            <a:off x="3427896" y="672868"/>
            <a:ext cx="5325560" cy="923330"/>
          </a:xfrm>
          <a:prstGeom prst="rect">
            <a:avLst/>
          </a:prstGeom>
          <a:noFill/>
        </p:spPr>
        <p:txBody>
          <a:bodyPr wrap="none" lIns="91440" tIns="45720" rIns="91440" bIns="45720">
            <a:spAutoFit/>
          </a:bodyPr>
          <a:lstStyle/>
          <a:p>
            <a:pPr algn="ctr"/>
            <a:r>
              <a:rPr lang="en-GB" sz="5400" dirty="0">
                <a:ln w="0"/>
                <a:effectLst>
                  <a:outerShdw blurRad="38100" dist="19050" dir="2700000" algn="tl" rotWithShape="0">
                    <a:schemeClr val="dk1">
                      <a:alpha val="40000"/>
                    </a:schemeClr>
                  </a:outerShdw>
                </a:effectLst>
                <a:latin typeface="Arial Rounded MT Bold" panose="020F0704030504030204" pitchFamily="34" charset="0"/>
              </a:rPr>
              <a:t>Team members</a:t>
            </a:r>
            <a:endParaRPr lang="en-GB" sz="5400" dirty="0">
              <a:ln w="0"/>
              <a:effectLst>
                <a:outerShdw blurRad="38100" dist="19050" dir="2700000" algn="tl" rotWithShape="0">
                  <a:schemeClr val="dk1">
                    <a:alpha val="40000"/>
                  </a:schemeClr>
                </a:outerShdw>
              </a:effectLst>
            </a:endParaRPr>
          </a:p>
        </p:txBody>
      </p:sp>
      <p:sp>
        <p:nvSpPr>
          <p:cNvPr id="15" name="Rectangle: Rounded Corners 14">
            <a:extLst>
              <a:ext uri="{FF2B5EF4-FFF2-40B4-BE49-F238E27FC236}">
                <a16:creationId xmlns:a16="http://schemas.microsoft.com/office/drawing/2014/main" id="{1B7D4F47-0CE7-47BB-8F11-B1183CC49945}"/>
              </a:ext>
            </a:extLst>
          </p:cNvPr>
          <p:cNvSpPr/>
          <p:nvPr/>
        </p:nvSpPr>
        <p:spPr>
          <a:xfrm>
            <a:off x="748197" y="1985664"/>
            <a:ext cx="3141133" cy="41994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Rounded Corners 15">
            <a:extLst>
              <a:ext uri="{FF2B5EF4-FFF2-40B4-BE49-F238E27FC236}">
                <a16:creationId xmlns:a16="http://schemas.microsoft.com/office/drawing/2014/main" id="{D14304E0-5FCF-42D1-85DC-5CE17E9EA64D}"/>
              </a:ext>
            </a:extLst>
          </p:cNvPr>
          <p:cNvSpPr/>
          <p:nvPr/>
        </p:nvSpPr>
        <p:spPr>
          <a:xfrm>
            <a:off x="4533894" y="1985664"/>
            <a:ext cx="3141133" cy="41994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50">
            <a:extLst>
              <a:ext uri="{FF2B5EF4-FFF2-40B4-BE49-F238E27FC236}">
                <a16:creationId xmlns:a16="http://schemas.microsoft.com/office/drawing/2014/main" id="{2769A491-804B-4D9C-AA7C-B1AC16BBB885}"/>
              </a:ext>
            </a:extLst>
          </p:cNvPr>
          <p:cNvSpPr/>
          <p:nvPr/>
        </p:nvSpPr>
        <p:spPr>
          <a:xfrm>
            <a:off x="1163063" y="2376733"/>
            <a:ext cx="2311402" cy="2124670"/>
          </a:xfrm>
          <a:custGeom>
            <a:avLst/>
            <a:gdLst/>
            <a:ahLst/>
            <a:cxnLst/>
            <a:rect l="l" t="t" r="r" b="b"/>
            <a:pathLst>
              <a:path w="6172200" h="6172200">
                <a:moveTo>
                  <a:pt x="6172200" y="5864860"/>
                </a:moveTo>
                <a:cubicBezTo>
                  <a:pt x="6172200" y="6033770"/>
                  <a:pt x="6035040" y="6170930"/>
                  <a:pt x="5866130" y="6170930"/>
                </a:cubicBezTo>
                <a:lnTo>
                  <a:pt x="307340" y="6170930"/>
                </a:lnTo>
                <a:cubicBezTo>
                  <a:pt x="137160" y="6172200"/>
                  <a:pt x="0" y="6035040"/>
                  <a:pt x="0" y="5864860"/>
                </a:cubicBezTo>
                <a:lnTo>
                  <a:pt x="0" y="307340"/>
                </a:lnTo>
                <a:cubicBezTo>
                  <a:pt x="0" y="137160"/>
                  <a:pt x="137160" y="0"/>
                  <a:pt x="307340" y="0"/>
                </a:cubicBezTo>
                <a:lnTo>
                  <a:pt x="5866130" y="0"/>
                </a:lnTo>
                <a:cubicBezTo>
                  <a:pt x="6035040" y="0"/>
                  <a:pt x="6172200" y="137160"/>
                  <a:pt x="6172200" y="307340"/>
                </a:cubicBezTo>
                <a:lnTo>
                  <a:pt x="6172200" y="5864860"/>
                </a:lnTo>
                <a:close/>
              </a:path>
            </a:pathLst>
          </a:custGeom>
          <a:blipFill>
            <a:blip r:embed="rId3">
              <a:extLst>
                <a:ext uri="{28A0092B-C50C-407E-A947-70E740481C1C}">
                  <a14:useLocalDpi xmlns:a14="http://schemas.microsoft.com/office/drawing/2010/main" val="0"/>
                </a:ext>
              </a:extLst>
            </a:blip>
            <a:stretch>
              <a:fillRect/>
            </a:stretch>
          </a:blipFill>
          <a:ln w="38100">
            <a:solidFill>
              <a:srgbClr val="FFFF00"/>
            </a:solidFill>
          </a:ln>
        </p:spPr>
        <p:txBody>
          <a:bodyPr/>
          <a:lstStyle/>
          <a:p>
            <a:endParaRPr lang="en-US" dirty="0"/>
          </a:p>
        </p:txBody>
      </p:sp>
      <p:sp>
        <p:nvSpPr>
          <p:cNvPr id="18" name="Freeform 50">
            <a:extLst>
              <a:ext uri="{FF2B5EF4-FFF2-40B4-BE49-F238E27FC236}">
                <a16:creationId xmlns:a16="http://schemas.microsoft.com/office/drawing/2014/main" id="{5EA606B4-F11A-42EB-9F67-9BC5F61F0FDC}"/>
              </a:ext>
            </a:extLst>
          </p:cNvPr>
          <p:cNvSpPr/>
          <p:nvPr/>
        </p:nvSpPr>
        <p:spPr>
          <a:xfrm>
            <a:off x="4934975" y="2454544"/>
            <a:ext cx="2311402" cy="2124670"/>
          </a:xfrm>
          <a:custGeom>
            <a:avLst/>
            <a:gdLst/>
            <a:ahLst/>
            <a:cxnLst/>
            <a:rect l="l" t="t" r="r" b="b"/>
            <a:pathLst>
              <a:path w="6172200" h="6172200">
                <a:moveTo>
                  <a:pt x="6172200" y="5864860"/>
                </a:moveTo>
                <a:cubicBezTo>
                  <a:pt x="6172200" y="6033770"/>
                  <a:pt x="6035040" y="6170930"/>
                  <a:pt x="5866130" y="6170930"/>
                </a:cubicBezTo>
                <a:lnTo>
                  <a:pt x="307340" y="6170930"/>
                </a:lnTo>
                <a:cubicBezTo>
                  <a:pt x="137160" y="6172200"/>
                  <a:pt x="0" y="6035040"/>
                  <a:pt x="0" y="5864860"/>
                </a:cubicBezTo>
                <a:lnTo>
                  <a:pt x="0" y="307340"/>
                </a:lnTo>
                <a:cubicBezTo>
                  <a:pt x="0" y="137160"/>
                  <a:pt x="137160" y="0"/>
                  <a:pt x="307340" y="0"/>
                </a:cubicBezTo>
                <a:lnTo>
                  <a:pt x="5866130" y="0"/>
                </a:lnTo>
                <a:cubicBezTo>
                  <a:pt x="6035040" y="0"/>
                  <a:pt x="6172200" y="137160"/>
                  <a:pt x="6172200" y="307340"/>
                </a:cubicBezTo>
                <a:lnTo>
                  <a:pt x="6172200" y="5864860"/>
                </a:lnTo>
                <a:close/>
              </a:path>
            </a:pathLst>
          </a:custGeom>
          <a:blipFill>
            <a:blip r:embed="rId3">
              <a:extLst>
                <a:ext uri="{28A0092B-C50C-407E-A947-70E740481C1C}">
                  <a14:useLocalDpi xmlns:a14="http://schemas.microsoft.com/office/drawing/2010/main" val="0"/>
                </a:ext>
              </a:extLst>
            </a:blip>
            <a:stretch>
              <a:fillRect/>
            </a:stretch>
          </a:blipFill>
          <a:ln w="38100">
            <a:solidFill>
              <a:srgbClr val="FFFF00"/>
            </a:solidFill>
          </a:ln>
        </p:spPr>
        <p:txBody>
          <a:bodyPr/>
          <a:lstStyle/>
          <a:p>
            <a:endParaRPr lang="en-US" dirty="0"/>
          </a:p>
        </p:txBody>
      </p:sp>
      <p:sp>
        <p:nvSpPr>
          <p:cNvPr id="19" name="TextBox 18">
            <a:extLst>
              <a:ext uri="{FF2B5EF4-FFF2-40B4-BE49-F238E27FC236}">
                <a16:creationId xmlns:a16="http://schemas.microsoft.com/office/drawing/2014/main" id="{467D1A8D-BA17-49AD-AD97-FFBD7168B189}"/>
              </a:ext>
            </a:extLst>
          </p:cNvPr>
          <p:cNvSpPr txBox="1"/>
          <p:nvPr/>
        </p:nvSpPr>
        <p:spPr>
          <a:xfrm>
            <a:off x="1163062" y="4727881"/>
            <a:ext cx="2311402" cy="369332"/>
          </a:xfrm>
          <a:prstGeom prst="rect">
            <a:avLst/>
          </a:prstGeom>
          <a:noFill/>
        </p:spPr>
        <p:txBody>
          <a:bodyPr wrap="square" rtlCol="0">
            <a:spAutoFit/>
          </a:bodyPr>
          <a:lstStyle/>
          <a:p>
            <a:pPr algn="ctr"/>
            <a:r>
              <a:rPr lang="en-GB" dirty="0"/>
              <a:t>Nafis Fuad Barshan</a:t>
            </a:r>
          </a:p>
        </p:txBody>
      </p:sp>
      <p:sp>
        <p:nvSpPr>
          <p:cNvPr id="20" name="TextBox 19">
            <a:extLst>
              <a:ext uri="{FF2B5EF4-FFF2-40B4-BE49-F238E27FC236}">
                <a16:creationId xmlns:a16="http://schemas.microsoft.com/office/drawing/2014/main" id="{E5323686-D280-4573-934A-507E86EE82F4}"/>
              </a:ext>
            </a:extLst>
          </p:cNvPr>
          <p:cNvSpPr txBox="1"/>
          <p:nvPr/>
        </p:nvSpPr>
        <p:spPr>
          <a:xfrm>
            <a:off x="4948759" y="4727881"/>
            <a:ext cx="2311402" cy="369332"/>
          </a:xfrm>
          <a:prstGeom prst="rect">
            <a:avLst/>
          </a:prstGeom>
          <a:noFill/>
        </p:spPr>
        <p:txBody>
          <a:bodyPr wrap="square" rtlCol="0">
            <a:spAutoFit/>
          </a:bodyPr>
          <a:lstStyle/>
          <a:p>
            <a:pPr algn="ctr"/>
            <a:r>
              <a:rPr lang="en-GB" dirty="0"/>
              <a:t>Tanvir </a:t>
            </a:r>
            <a:r>
              <a:rPr lang="en-GB" dirty="0" err="1"/>
              <a:t>Rahan</a:t>
            </a:r>
            <a:r>
              <a:rPr lang="en-GB" dirty="0"/>
              <a:t> Rifat</a:t>
            </a:r>
          </a:p>
        </p:txBody>
      </p:sp>
      <p:sp>
        <p:nvSpPr>
          <p:cNvPr id="21" name="TextBox 20">
            <a:extLst>
              <a:ext uri="{FF2B5EF4-FFF2-40B4-BE49-F238E27FC236}">
                <a16:creationId xmlns:a16="http://schemas.microsoft.com/office/drawing/2014/main" id="{6DCBF21D-C9E3-4A9B-B859-8E5B438D5A67}"/>
              </a:ext>
            </a:extLst>
          </p:cNvPr>
          <p:cNvSpPr txBox="1"/>
          <p:nvPr/>
        </p:nvSpPr>
        <p:spPr>
          <a:xfrm>
            <a:off x="4856179" y="5155452"/>
            <a:ext cx="2413001" cy="369332"/>
          </a:xfrm>
          <a:prstGeom prst="rect">
            <a:avLst/>
          </a:prstGeom>
          <a:noFill/>
        </p:spPr>
        <p:txBody>
          <a:bodyPr wrap="square" rtlCol="0">
            <a:spAutoFit/>
          </a:bodyPr>
          <a:lstStyle/>
          <a:p>
            <a:pPr algn="ctr"/>
            <a:r>
              <a:rPr lang="en-GB" dirty="0"/>
              <a:t>Registration: 22101065</a:t>
            </a:r>
          </a:p>
        </p:txBody>
      </p:sp>
      <p:sp>
        <p:nvSpPr>
          <p:cNvPr id="22" name="TextBox 21">
            <a:extLst>
              <a:ext uri="{FF2B5EF4-FFF2-40B4-BE49-F238E27FC236}">
                <a16:creationId xmlns:a16="http://schemas.microsoft.com/office/drawing/2014/main" id="{35A4B87F-C14B-420F-89D1-42B778948124}"/>
              </a:ext>
            </a:extLst>
          </p:cNvPr>
          <p:cNvSpPr txBox="1"/>
          <p:nvPr/>
        </p:nvSpPr>
        <p:spPr>
          <a:xfrm>
            <a:off x="1112262" y="5182390"/>
            <a:ext cx="2413001" cy="369332"/>
          </a:xfrm>
          <a:prstGeom prst="rect">
            <a:avLst/>
          </a:prstGeom>
          <a:noFill/>
        </p:spPr>
        <p:txBody>
          <a:bodyPr wrap="square" rtlCol="0">
            <a:spAutoFit/>
          </a:bodyPr>
          <a:lstStyle/>
          <a:p>
            <a:pPr algn="ctr"/>
            <a:r>
              <a:rPr lang="en-GB" dirty="0"/>
              <a:t>Registration: 21201166</a:t>
            </a:r>
          </a:p>
        </p:txBody>
      </p:sp>
      <p:sp>
        <p:nvSpPr>
          <p:cNvPr id="12" name="Rectangle: Rounded Corners 11">
            <a:extLst>
              <a:ext uri="{FF2B5EF4-FFF2-40B4-BE49-F238E27FC236}">
                <a16:creationId xmlns:a16="http://schemas.microsoft.com/office/drawing/2014/main" id="{C558FD0B-2DD6-4B6E-8E58-2CF45961C621}"/>
              </a:ext>
            </a:extLst>
          </p:cNvPr>
          <p:cNvSpPr/>
          <p:nvPr/>
        </p:nvSpPr>
        <p:spPr>
          <a:xfrm>
            <a:off x="8284625" y="1985664"/>
            <a:ext cx="3141133" cy="4199467"/>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50">
            <a:extLst>
              <a:ext uri="{FF2B5EF4-FFF2-40B4-BE49-F238E27FC236}">
                <a16:creationId xmlns:a16="http://schemas.microsoft.com/office/drawing/2014/main" id="{B64199EE-50EA-4C81-9F7A-96330C405204}"/>
              </a:ext>
            </a:extLst>
          </p:cNvPr>
          <p:cNvSpPr/>
          <p:nvPr/>
        </p:nvSpPr>
        <p:spPr>
          <a:xfrm>
            <a:off x="8717535" y="2454544"/>
            <a:ext cx="2311402" cy="2124670"/>
          </a:xfrm>
          <a:custGeom>
            <a:avLst/>
            <a:gdLst/>
            <a:ahLst/>
            <a:cxnLst/>
            <a:rect l="l" t="t" r="r" b="b"/>
            <a:pathLst>
              <a:path w="6172200" h="6172200">
                <a:moveTo>
                  <a:pt x="6172200" y="5864860"/>
                </a:moveTo>
                <a:cubicBezTo>
                  <a:pt x="6172200" y="6033770"/>
                  <a:pt x="6035040" y="6170930"/>
                  <a:pt x="5866130" y="6170930"/>
                </a:cubicBezTo>
                <a:lnTo>
                  <a:pt x="307340" y="6170930"/>
                </a:lnTo>
                <a:cubicBezTo>
                  <a:pt x="137160" y="6172200"/>
                  <a:pt x="0" y="6035040"/>
                  <a:pt x="0" y="5864860"/>
                </a:cubicBezTo>
                <a:lnTo>
                  <a:pt x="0" y="307340"/>
                </a:lnTo>
                <a:cubicBezTo>
                  <a:pt x="0" y="137160"/>
                  <a:pt x="137160" y="0"/>
                  <a:pt x="307340" y="0"/>
                </a:cubicBezTo>
                <a:lnTo>
                  <a:pt x="5866130" y="0"/>
                </a:lnTo>
                <a:cubicBezTo>
                  <a:pt x="6035040" y="0"/>
                  <a:pt x="6172200" y="137160"/>
                  <a:pt x="6172200" y="307340"/>
                </a:cubicBezTo>
                <a:lnTo>
                  <a:pt x="6172200" y="5864860"/>
                </a:lnTo>
                <a:close/>
              </a:path>
            </a:pathLst>
          </a:custGeom>
          <a:blipFill>
            <a:blip r:embed="rId3">
              <a:extLst>
                <a:ext uri="{28A0092B-C50C-407E-A947-70E740481C1C}">
                  <a14:useLocalDpi xmlns:a14="http://schemas.microsoft.com/office/drawing/2010/main" val="0"/>
                </a:ext>
              </a:extLst>
            </a:blip>
            <a:stretch>
              <a:fillRect/>
            </a:stretch>
          </a:blipFill>
          <a:ln w="38100">
            <a:solidFill>
              <a:srgbClr val="FFFF00"/>
            </a:solidFill>
          </a:ln>
        </p:spPr>
        <p:txBody>
          <a:bodyPr/>
          <a:lstStyle/>
          <a:p>
            <a:endParaRPr lang="en-US" dirty="0"/>
          </a:p>
        </p:txBody>
      </p:sp>
      <p:sp>
        <p:nvSpPr>
          <p:cNvPr id="14" name="TextBox 13">
            <a:extLst>
              <a:ext uri="{FF2B5EF4-FFF2-40B4-BE49-F238E27FC236}">
                <a16:creationId xmlns:a16="http://schemas.microsoft.com/office/drawing/2014/main" id="{46A25ABC-D43A-4FBB-A50C-0C292CDC2417}"/>
              </a:ext>
            </a:extLst>
          </p:cNvPr>
          <p:cNvSpPr txBox="1"/>
          <p:nvPr/>
        </p:nvSpPr>
        <p:spPr>
          <a:xfrm>
            <a:off x="8753456" y="4731666"/>
            <a:ext cx="2311402" cy="369332"/>
          </a:xfrm>
          <a:prstGeom prst="rect">
            <a:avLst/>
          </a:prstGeom>
          <a:noFill/>
        </p:spPr>
        <p:txBody>
          <a:bodyPr wrap="square" rtlCol="0">
            <a:spAutoFit/>
          </a:bodyPr>
          <a:lstStyle/>
          <a:p>
            <a:pPr algn="ctr"/>
            <a:r>
              <a:rPr lang="en-GB" dirty="0" err="1"/>
              <a:t>Taohid</a:t>
            </a:r>
            <a:r>
              <a:rPr lang="en-GB" dirty="0"/>
              <a:t> Khan</a:t>
            </a:r>
          </a:p>
        </p:txBody>
      </p:sp>
      <p:sp>
        <p:nvSpPr>
          <p:cNvPr id="23" name="TextBox 22">
            <a:extLst>
              <a:ext uri="{FF2B5EF4-FFF2-40B4-BE49-F238E27FC236}">
                <a16:creationId xmlns:a16="http://schemas.microsoft.com/office/drawing/2014/main" id="{37B6B1FD-5D09-4059-9B3F-6DD4969BA49B}"/>
              </a:ext>
            </a:extLst>
          </p:cNvPr>
          <p:cNvSpPr txBox="1"/>
          <p:nvPr/>
        </p:nvSpPr>
        <p:spPr>
          <a:xfrm>
            <a:off x="8648690" y="5155452"/>
            <a:ext cx="2413001" cy="369332"/>
          </a:xfrm>
          <a:prstGeom prst="rect">
            <a:avLst/>
          </a:prstGeom>
          <a:noFill/>
        </p:spPr>
        <p:txBody>
          <a:bodyPr wrap="square" rtlCol="0">
            <a:spAutoFit/>
          </a:bodyPr>
          <a:lstStyle/>
          <a:p>
            <a:pPr algn="ctr"/>
            <a:r>
              <a:rPr lang="en-GB" dirty="0"/>
              <a:t>Registration: 22101070</a:t>
            </a:r>
          </a:p>
        </p:txBody>
      </p:sp>
    </p:spTree>
    <p:extLst>
      <p:ext uri="{BB962C8B-B14F-4D97-AF65-F5344CB8AC3E}">
        <p14:creationId xmlns:p14="http://schemas.microsoft.com/office/powerpoint/2010/main" val="136583539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EB3FF8-3795-4C9B-B822-84CD67DCE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5974" y="1094549"/>
            <a:ext cx="5276850" cy="5276850"/>
          </a:xfrm>
          <a:prstGeom prst="rect">
            <a:avLst/>
          </a:prstGeom>
        </p:spPr>
      </p:pic>
      <p:sp>
        <p:nvSpPr>
          <p:cNvPr id="7" name="Rectangle 6">
            <a:extLst>
              <a:ext uri="{FF2B5EF4-FFF2-40B4-BE49-F238E27FC236}">
                <a16:creationId xmlns:a16="http://schemas.microsoft.com/office/drawing/2014/main" id="{A4A7CDFF-E25A-4E4B-BD4E-9C9FD1AFF2CF}"/>
              </a:ext>
            </a:extLst>
          </p:cNvPr>
          <p:cNvSpPr/>
          <p:nvPr/>
        </p:nvSpPr>
        <p:spPr>
          <a:xfrm>
            <a:off x="160080" y="486601"/>
            <a:ext cx="11871840" cy="923330"/>
          </a:xfrm>
          <a:prstGeom prst="rect">
            <a:avLst/>
          </a:prstGeom>
          <a:noFill/>
        </p:spPr>
        <p:txBody>
          <a:bodyPr wrap="none" lIns="91440" tIns="45720" rIns="91440" bIns="45720">
            <a:spAutoFit/>
          </a:bodyPr>
          <a:lstStyle/>
          <a:p>
            <a:pPr algn="ctr"/>
            <a:r>
              <a:rPr lang="en-GB" sz="5400" dirty="0">
                <a:ln w="0"/>
                <a:effectLst>
                  <a:outerShdw blurRad="38100" dist="19050" dir="2700000" algn="tl" rotWithShape="0">
                    <a:schemeClr val="dk1">
                      <a:alpha val="40000"/>
                    </a:schemeClr>
                  </a:outerShdw>
                </a:effectLst>
                <a:latin typeface="Arial Rounded MT Bold" panose="020F0704030504030204" pitchFamily="34" charset="0"/>
              </a:rPr>
              <a:t>Online Learning &amp; Tutoring System</a:t>
            </a:r>
            <a:endParaRPr lang="en-GB" sz="5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29024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B636E3-4366-10CD-0FC5-02940194ACCE}"/>
              </a:ext>
            </a:extLst>
          </p:cNvPr>
          <p:cNvSpPr>
            <a:spLocks noGrp="1"/>
          </p:cNvSpPr>
          <p:nvPr>
            <p:ph idx="1"/>
          </p:nvPr>
        </p:nvSpPr>
        <p:spPr>
          <a:xfrm>
            <a:off x="1579033" y="1784345"/>
            <a:ext cx="9033934" cy="4058751"/>
          </a:xfrm>
        </p:spPr>
        <p:txBody>
          <a:bodyPr>
            <a:normAutofit/>
          </a:bodyPr>
          <a:lstStyle/>
          <a:p>
            <a:pPr marL="36900" indent="0">
              <a:buNone/>
            </a:pPr>
            <a:r>
              <a:rPr lang="en-US" sz="2800" dirty="0">
                <a:solidFill>
                  <a:schemeClr val="tx1"/>
                </a:solidFill>
                <a:latin typeface="Arial Rounded MT Bold" panose="020F0704030504030204" pitchFamily="34" charset="0"/>
                <a:cs typeface="Times New Roman" panose="02020603050405020304" pitchFamily="18" charset="0"/>
              </a:rPr>
              <a:t>The Digital Tutoring Platform is an online system designed to bridge the gap between students and tutors. It helps students find the right tutors based on their needs and allows tutors to offer personalized classes. With features like live classes, course materials, feedback. This platform simplifies online education and makes it more accessible to everyone.</a:t>
            </a:r>
          </a:p>
        </p:txBody>
      </p:sp>
      <p:sp>
        <p:nvSpPr>
          <p:cNvPr id="4" name="Rectangle 3">
            <a:extLst>
              <a:ext uri="{FF2B5EF4-FFF2-40B4-BE49-F238E27FC236}">
                <a16:creationId xmlns:a16="http://schemas.microsoft.com/office/drawing/2014/main" id="{7BD9789E-A6B2-413A-B0C1-5D9CC3C745FD}"/>
              </a:ext>
            </a:extLst>
          </p:cNvPr>
          <p:cNvSpPr/>
          <p:nvPr/>
        </p:nvSpPr>
        <p:spPr>
          <a:xfrm>
            <a:off x="1430866" y="677332"/>
            <a:ext cx="9330268" cy="55033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F2E93A7-A0CB-4CCA-AC78-F97A680C17A6}"/>
              </a:ext>
            </a:extLst>
          </p:cNvPr>
          <p:cNvSpPr/>
          <p:nvPr/>
        </p:nvSpPr>
        <p:spPr>
          <a:xfrm>
            <a:off x="4328854" y="677332"/>
            <a:ext cx="3534301"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Introduction</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56043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2C32E5-5049-4641-8561-287268E74DCE}"/>
              </a:ext>
            </a:extLst>
          </p:cNvPr>
          <p:cNvSpPr/>
          <p:nvPr/>
        </p:nvSpPr>
        <p:spPr>
          <a:xfrm>
            <a:off x="2015066" y="1177011"/>
            <a:ext cx="8161867" cy="45039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7077F50A-90C2-43BB-82DC-81E4DA0723DA}"/>
              </a:ext>
            </a:extLst>
          </p:cNvPr>
          <p:cNvSpPr/>
          <p:nvPr/>
        </p:nvSpPr>
        <p:spPr>
          <a:xfrm>
            <a:off x="3391417" y="1177011"/>
            <a:ext cx="5409174"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Problem Statement</a:t>
            </a:r>
            <a:endParaRPr lang="en-GB" sz="4400" dirty="0">
              <a:ln w="0"/>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6930980A-FC65-4D19-9A06-848AEACBC6B4}"/>
              </a:ext>
            </a:extLst>
          </p:cNvPr>
          <p:cNvSpPr txBox="1"/>
          <p:nvPr/>
        </p:nvSpPr>
        <p:spPr>
          <a:xfrm>
            <a:off x="2159000" y="1946452"/>
            <a:ext cx="1789977" cy="369332"/>
          </a:xfrm>
          <a:prstGeom prst="rect">
            <a:avLst/>
          </a:prstGeom>
          <a:noFill/>
        </p:spPr>
        <p:txBody>
          <a:bodyPr wrap="none" rtlCol="0">
            <a:spAutoFit/>
          </a:bodyPr>
          <a:lstStyle/>
          <a:p>
            <a:r>
              <a:rPr lang="en-GB" dirty="0">
                <a:latin typeface="Arial Rounded MT Bold" panose="020F0704030504030204" pitchFamily="34" charset="0"/>
              </a:rPr>
              <a:t>Key Problems:</a:t>
            </a:r>
          </a:p>
        </p:txBody>
      </p:sp>
      <p:sp>
        <p:nvSpPr>
          <p:cNvPr id="5" name="TextBox 4">
            <a:extLst>
              <a:ext uri="{FF2B5EF4-FFF2-40B4-BE49-F238E27FC236}">
                <a16:creationId xmlns:a16="http://schemas.microsoft.com/office/drawing/2014/main" id="{8AAA3FDF-EFBD-46CA-832B-C55167972886}"/>
              </a:ext>
            </a:extLst>
          </p:cNvPr>
          <p:cNvSpPr txBox="1"/>
          <p:nvPr/>
        </p:nvSpPr>
        <p:spPr>
          <a:xfrm>
            <a:off x="2499611" y="2340015"/>
            <a:ext cx="5653792" cy="294741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Missing deadlines for exam preparations</a:t>
            </a:r>
          </a:p>
          <a:p>
            <a:pPr marL="285750" indent="-285750">
              <a:lnSpc>
                <a:spcPct val="150000"/>
              </a:lnSpc>
              <a:buFont typeface="Arial" panose="020B0604020202020204" pitchFamily="34" charset="0"/>
              <a:buChar char="•"/>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Lack of proper concepts </a:t>
            </a:r>
          </a:p>
          <a:p>
            <a:pPr marL="285750" indent="-285750">
              <a:lnSpc>
                <a:spcPct val="150000"/>
              </a:lnSpc>
              <a:buFont typeface="Arial" panose="020B0604020202020204" pitchFamily="34" charset="0"/>
              <a:buChar char="•"/>
            </a:pPr>
            <a:r>
              <a:rPr lang="en-GB" dirty="0">
                <a:latin typeface="Arial Rounded MT Bold" panose="020F0704030504030204" pitchFamily="34" charset="0"/>
                <a:ea typeface="Calibri" panose="020F0502020204030204" pitchFamily="34" charset="0"/>
                <a:cs typeface="Times New Roman" panose="02020603050405020304" pitchFamily="18" charset="0"/>
              </a:rPr>
              <a:t>U</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nprepared for tests coming nearby</a:t>
            </a:r>
          </a:p>
          <a:p>
            <a:pPr marL="285750" indent="-285750">
              <a:lnSpc>
                <a:spcPct val="150000"/>
              </a:lnSpc>
              <a:buFont typeface="Arial" panose="020B0604020202020204" pitchFamily="34" charset="0"/>
              <a:buChar char="•"/>
            </a:pPr>
            <a:r>
              <a:rPr lang="en-GB" dirty="0">
                <a:latin typeface="Arial Rounded MT Bold" panose="020F0704030504030204" pitchFamily="34" charset="0"/>
                <a:ea typeface="Calibri" panose="020F0502020204030204" pitchFamily="34" charset="0"/>
                <a:cs typeface="Times New Roman" panose="02020603050405020304" pitchFamily="18" charset="0"/>
              </a:rPr>
              <a:t>P</a:t>
            </a: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oor time management and lower-quality work</a:t>
            </a:r>
          </a:p>
          <a:p>
            <a:pPr marL="285750" indent="-285750">
              <a:lnSpc>
                <a:spcPct val="150000"/>
              </a:lnSpc>
              <a:buFont typeface="Arial" panose="020B0604020202020204" pitchFamily="34" charset="0"/>
              <a:buChar char="•"/>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Affect of overall academic performance.</a:t>
            </a:r>
          </a:p>
          <a:p>
            <a:pPr marL="285750" indent="-285750">
              <a:lnSpc>
                <a:spcPct val="150000"/>
              </a:lnSpc>
              <a:buFont typeface="Arial" panose="020B0604020202020204" pitchFamily="34" charset="0"/>
              <a:buChar char="•"/>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Chaotic study routines.</a:t>
            </a:r>
          </a:p>
          <a:p>
            <a:pPr marL="285750" indent="-285750">
              <a:lnSpc>
                <a:spcPct val="150000"/>
              </a:lnSpc>
              <a:buFont typeface="Arial" panose="020B0604020202020204" pitchFamily="34" charset="0"/>
              <a:buChar char="•"/>
            </a:pPr>
            <a:r>
              <a:rPr lang="en-GB" dirty="0">
                <a:latin typeface="Arial Rounded MT Bold" panose="020F0704030504030204" pitchFamily="34" charset="0"/>
              </a:rPr>
              <a:t>Unavailability of urgent tutor</a:t>
            </a:r>
          </a:p>
        </p:txBody>
      </p:sp>
    </p:spTree>
    <p:extLst>
      <p:ext uri="{BB962C8B-B14F-4D97-AF65-F5344CB8AC3E}">
        <p14:creationId xmlns:p14="http://schemas.microsoft.com/office/powerpoint/2010/main" val="446257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5F4E53-6F26-431A-BC68-B3BA108E3390}"/>
              </a:ext>
            </a:extLst>
          </p:cNvPr>
          <p:cNvSpPr/>
          <p:nvPr/>
        </p:nvSpPr>
        <p:spPr>
          <a:xfrm>
            <a:off x="2015066" y="1177011"/>
            <a:ext cx="8161867" cy="45039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B4B4348F-6561-4683-82B2-44D69F2DEE48}"/>
              </a:ext>
            </a:extLst>
          </p:cNvPr>
          <p:cNvSpPr/>
          <p:nvPr/>
        </p:nvSpPr>
        <p:spPr>
          <a:xfrm>
            <a:off x="4546255" y="1177011"/>
            <a:ext cx="3099503"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Objectives</a:t>
            </a:r>
            <a:endParaRPr lang="en-GB" sz="4400" dirty="0">
              <a:ln w="0"/>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585D4188-D68D-4A90-B8C7-9C5809664EEB}"/>
              </a:ext>
            </a:extLst>
          </p:cNvPr>
          <p:cNvSpPr txBox="1"/>
          <p:nvPr/>
        </p:nvSpPr>
        <p:spPr>
          <a:xfrm>
            <a:off x="2539994" y="2441615"/>
            <a:ext cx="7499745" cy="253191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Student could ask for a personal tutor anytime </a:t>
            </a:r>
          </a:p>
          <a:p>
            <a:pPr marL="285750" indent="-285750">
              <a:lnSpc>
                <a:spcPct val="150000"/>
              </a:lnSpc>
              <a:buFont typeface="Arial" panose="020B0604020202020204" pitchFamily="34" charset="0"/>
              <a:buChar char="•"/>
            </a:pPr>
            <a:r>
              <a:rPr lang="en-US" dirty="0">
                <a:latin typeface="Arial Rounded MT Bold" panose="020F0704030504030204" pitchFamily="34" charset="0"/>
              </a:rPr>
              <a:t>We would provide certificates to recognize achievements upon course completion</a:t>
            </a:r>
            <a:endParaRPr lang="en-GB" dirty="0">
              <a:latin typeface="Arial Rounded MT Bold" panose="020F0704030504030204" pitchFamily="34" charset="0"/>
              <a:cs typeface="Times New Roman" panose="02020603050405020304" pitchFamily="18" charset="0"/>
            </a:endParaRP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Making a user-friendly interphase</a:t>
            </a: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Solving unemployment problem for aspiring tutors</a:t>
            </a: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Minimizing the problem for procrastination or other reasons</a:t>
            </a:r>
          </a:p>
        </p:txBody>
      </p:sp>
    </p:spTree>
    <p:extLst>
      <p:ext uri="{BB962C8B-B14F-4D97-AF65-F5344CB8AC3E}">
        <p14:creationId xmlns:p14="http://schemas.microsoft.com/office/powerpoint/2010/main" val="13459315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33423A-F9BC-4560-80AF-9AED233B01D1}"/>
              </a:ext>
            </a:extLst>
          </p:cNvPr>
          <p:cNvSpPr/>
          <p:nvPr/>
        </p:nvSpPr>
        <p:spPr>
          <a:xfrm>
            <a:off x="1430866" y="677332"/>
            <a:ext cx="9330268" cy="55033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2271CD73-4436-40FD-B2C2-BC2E18B36E25}"/>
              </a:ext>
            </a:extLst>
          </p:cNvPr>
          <p:cNvSpPr/>
          <p:nvPr/>
        </p:nvSpPr>
        <p:spPr>
          <a:xfrm>
            <a:off x="4807764" y="677332"/>
            <a:ext cx="2576475"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Features</a:t>
            </a:r>
            <a:endParaRPr lang="en-GB" sz="4400" dirty="0">
              <a:ln w="0"/>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1C9DED8B-F58F-40E8-9C4C-7FA93A7009F8}"/>
              </a:ext>
            </a:extLst>
          </p:cNvPr>
          <p:cNvSpPr txBox="1"/>
          <p:nvPr/>
        </p:nvSpPr>
        <p:spPr>
          <a:xfrm>
            <a:off x="1744134" y="1624573"/>
            <a:ext cx="7578165" cy="4193905"/>
          </a:xfrm>
          <a:prstGeom prst="rect">
            <a:avLst/>
          </a:prstGeom>
          <a:noFill/>
        </p:spPr>
        <p:txBody>
          <a:bodyPr wrap="none" rtlCol="0">
            <a:spAutoFit/>
          </a:bodyPr>
          <a:lstStyle/>
          <a:p>
            <a:pPr>
              <a:lnSpc>
                <a:spcPct val="150000"/>
              </a:lnSpc>
            </a:pPr>
            <a:r>
              <a:rPr lang="en-GB" sz="1800" dirty="0">
                <a:effectLst/>
                <a:latin typeface="Arial Rounded MT Bold" panose="020F0704030504030204" pitchFamily="34" charset="0"/>
                <a:ea typeface="Calibri" panose="020F0502020204030204" pitchFamily="34" charset="0"/>
                <a:cs typeface="Times New Roman" panose="02020603050405020304" pitchFamily="18" charset="0"/>
              </a:rPr>
              <a:t>1. Creating an Online Platform</a:t>
            </a:r>
          </a:p>
          <a:p>
            <a:pPr marL="285750" indent="-285750">
              <a:lnSpc>
                <a:spcPct val="150000"/>
              </a:lnSpc>
              <a:buFont typeface="Arial" panose="020B0604020202020204" pitchFamily="34" charset="0"/>
              <a:buChar char="•"/>
            </a:pPr>
            <a:r>
              <a:rPr lang="en-GB" dirty="0">
                <a:latin typeface="Arial Rounded MT Bold" panose="020F0704030504030204" pitchFamily="34" charset="0"/>
                <a:ea typeface="Calibri" panose="020F0502020204030204" pitchFamily="34" charset="0"/>
                <a:cs typeface="Times New Roman" panose="02020603050405020304" pitchFamily="18" charset="0"/>
              </a:rPr>
              <a:t>	Students registration :</a:t>
            </a:r>
          </a:p>
          <a:p>
            <a:pPr marL="742950" lvl="1" indent="-285750">
              <a:lnSpc>
                <a:spcPct val="150000"/>
              </a:lnSpc>
              <a:buFont typeface="Arial" panose="020B0604020202020204" pitchFamily="34" charset="0"/>
              <a:buChar char="•"/>
            </a:pPr>
            <a:r>
              <a:rPr lang="en-GB" dirty="0">
                <a:effectLst/>
                <a:latin typeface="Arial Rounded MT Bold" panose="020F0704030504030204" pitchFamily="34" charset="0"/>
                <a:ea typeface="Calibri" panose="020F0502020204030204" pitchFamily="34" charset="0"/>
                <a:cs typeface="Times New Roman" panose="02020603050405020304" pitchFamily="18" charset="0"/>
              </a:rPr>
              <a:t>Details Required : Name, Mobile Number, Email Address</a:t>
            </a:r>
          </a:p>
          <a:p>
            <a:pPr marL="285750" indent="-285750">
              <a:lnSpc>
                <a:spcPct val="150000"/>
              </a:lnSpc>
              <a:buFont typeface="Arial" panose="020B0604020202020204" pitchFamily="34" charset="0"/>
              <a:buChar char="•"/>
            </a:pPr>
            <a:r>
              <a:rPr lang="en-GB" dirty="0">
                <a:latin typeface="Arial Rounded MT Bold" panose="020F0704030504030204" pitchFamily="34" charset="0"/>
              </a:rPr>
              <a:t>Instructors registration:</a:t>
            </a:r>
          </a:p>
          <a:p>
            <a:pPr marL="742950" lvl="1" indent="-285750">
              <a:lnSpc>
                <a:spcPct val="150000"/>
              </a:lnSpc>
              <a:buFont typeface="Arial" panose="020B0604020202020204" pitchFamily="34" charset="0"/>
              <a:buChar char="•"/>
            </a:pPr>
            <a:r>
              <a:rPr lang="en-GB" dirty="0">
                <a:effectLst/>
                <a:latin typeface="Arial Rounded MT Bold" panose="020F0704030504030204" pitchFamily="34" charset="0"/>
                <a:ea typeface="Calibri" panose="020F0502020204030204" pitchFamily="34" charset="0"/>
                <a:cs typeface="Times New Roman" panose="02020603050405020304" pitchFamily="18" charset="0"/>
              </a:rPr>
              <a:t>Details Required : Name, Number, Email, Subject</a:t>
            </a:r>
          </a:p>
          <a:p>
            <a:pPr>
              <a:lnSpc>
                <a:spcPct val="150000"/>
              </a:lnSpc>
            </a:pPr>
            <a:r>
              <a:rPr lang="en-GB" dirty="0">
                <a:latin typeface="Arial Rounded MT Bold" panose="020F0704030504030204" pitchFamily="34" charset="0"/>
                <a:cs typeface="Times New Roman" panose="02020603050405020304" pitchFamily="18" charset="0"/>
              </a:rPr>
              <a:t>2. One-to-one communication</a:t>
            </a: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In-site one-to-one calling session</a:t>
            </a:r>
          </a:p>
          <a:p>
            <a:pPr>
              <a:lnSpc>
                <a:spcPct val="150000"/>
              </a:lnSpc>
            </a:pPr>
            <a:r>
              <a:rPr lang="en-GB" dirty="0">
                <a:latin typeface="Arial Rounded MT Bold" panose="020F0704030504030204" pitchFamily="34" charset="0"/>
                <a:cs typeface="Times New Roman" panose="02020603050405020304" pitchFamily="18" charset="0"/>
              </a:rPr>
              <a:t>3. Payment</a:t>
            </a: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Fee depending on how much time the student wants assistance </a:t>
            </a:r>
          </a:p>
          <a:p>
            <a:pPr>
              <a:lnSpc>
                <a:spcPct val="150000"/>
              </a:lnSpc>
            </a:pPr>
            <a:r>
              <a:rPr lang="en-GB" dirty="0">
                <a:latin typeface="Arial Rounded MT Bold" panose="020F0704030504030204" pitchFamily="34" charset="0"/>
                <a:cs typeface="Times New Roman" panose="02020603050405020304" pitchFamily="18" charset="0"/>
              </a:rPr>
              <a:t>4. Review Section</a:t>
            </a:r>
          </a:p>
        </p:txBody>
      </p:sp>
    </p:spTree>
    <p:extLst>
      <p:ext uri="{BB962C8B-B14F-4D97-AF65-F5344CB8AC3E}">
        <p14:creationId xmlns:p14="http://schemas.microsoft.com/office/powerpoint/2010/main" val="3786960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8CD229-AF7E-486C-AC41-0446249111DB}"/>
              </a:ext>
            </a:extLst>
          </p:cNvPr>
          <p:cNvSpPr/>
          <p:nvPr/>
        </p:nvSpPr>
        <p:spPr>
          <a:xfrm>
            <a:off x="1490133" y="982205"/>
            <a:ext cx="8867901" cy="48935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3C413231-A940-4FB0-AF67-2543F9F7959F}"/>
              </a:ext>
            </a:extLst>
          </p:cNvPr>
          <p:cNvSpPr/>
          <p:nvPr/>
        </p:nvSpPr>
        <p:spPr>
          <a:xfrm>
            <a:off x="3838015" y="982205"/>
            <a:ext cx="4668394"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Unique Features</a:t>
            </a:r>
            <a:endParaRPr lang="en-GB" sz="4400" dirty="0">
              <a:ln w="0"/>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8E3FEBA2-7358-4AAC-A112-813EAD22A9A1}"/>
              </a:ext>
            </a:extLst>
          </p:cNvPr>
          <p:cNvSpPr txBox="1"/>
          <p:nvPr/>
        </p:nvSpPr>
        <p:spPr>
          <a:xfrm>
            <a:off x="1986390" y="1751646"/>
            <a:ext cx="6325834" cy="4453142"/>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GB" sz="2400" dirty="0">
                <a:effectLst/>
                <a:latin typeface="Arial Rounded MT Bold" panose="020F0704030504030204" pitchFamily="34" charset="0"/>
                <a:ea typeface="Calibri" panose="020F0502020204030204" pitchFamily="34" charset="0"/>
                <a:cs typeface="Times New Roman" panose="02020603050405020304" pitchFamily="18" charset="0"/>
              </a:rPr>
              <a:t>A student &amp; teacher friendly platform</a:t>
            </a:r>
          </a:p>
          <a:p>
            <a:pPr marL="285750" indent="-285750">
              <a:lnSpc>
                <a:spcPct val="150000"/>
              </a:lnSpc>
              <a:buFont typeface="Arial" panose="020B0604020202020204" pitchFamily="34" charset="0"/>
              <a:buChar char="•"/>
            </a:pPr>
            <a:r>
              <a:rPr lang="en-GB" sz="2400" dirty="0">
                <a:effectLst/>
                <a:latin typeface="Arial Rounded MT Bold" panose="020F0704030504030204" pitchFamily="34" charset="0"/>
                <a:ea typeface="Calibri" panose="020F0502020204030204" pitchFamily="34" charset="0"/>
                <a:cs typeface="Times New Roman" panose="02020603050405020304" pitchFamily="18" charset="0"/>
              </a:rPr>
              <a:t>One-to-one in-site video conference</a:t>
            </a:r>
          </a:p>
          <a:p>
            <a:pPr marL="285750" indent="-285750">
              <a:lnSpc>
                <a:spcPct val="150000"/>
              </a:lnSpc>
              <a:buFont typeface="Arial" panose="020B0604020202020204" pitchFamily="34" charset="0"/>
              <a:buChar char="•"/>
            </a:pPr>
            <a:r>
              <a:rPr lang="en-GB" sz="2400" dirty="0">
                <a:latin typeface="Arial Rounded MT Bold" panose="020F0704030504030204" pitchFamily="34" charset="0"/>
                <a:ea typeface="Calibri" panose="020F0502020204030204" pitchFamily="34" charset="0"/>
                <a:cs typeface="Times New Roman" panose="02020603050405020304" pitchFamily="18" charset="0"/>
              </a:rPr>
              <a:t>Teacher &amp; Student separate feed</a:t>
            </a:r>
          </a:p>
          <a:p>
            <a:pPr marL="285750" indent="-285750">
              <a:lnSpc>
                <a:spcPct val="150000"/>
              </a:lnSpc>
              <a:buFont typeface="Arial" panose="020B0604020202020204" pitchFamily="34" charset="0"/>
              <a:buChar char="•"/>
            </a:pPr>
            <a:r>
              <a:rPr lang="en-GB" sz="2400" dirty="0">
                <a:latin typeface="Arial Rounded MT Bold" panose="020F0704030504030204" pitchFamily="34" charset="0"/>
                <a:ea typeface="Calibri" panose="020F0502020204030204" pitchFamily="34" charset="0"/>
                <a:cs typeface="Times New Roman" panose="02020603050405020304" pitchFamily="18" charset="0"/>
              </a:rPr>
              <a:t>E-certificates upon course completion</a:t>
            </a:r>
          </a:p>
          <a:p>
            <a:pPr marL="285750" indent="-285750">
              <a:lnSpc>
                <a:spcPct val="150000"/>
              </a:lnSpc>
              <a:buFont typeface="Arial" panose="020B0604020202020204" pitchFamily="34" charset="0"/>
              <a:buChar char="•"/>
            </a:pPr>
            <a:r>
              <a:rPr lang="en-GB" sz="2400" dirty="0">
                <a:latin typeface="Arial Rounded MT Bold" panose="020F0704030504030204" pitchFamily="34" charset="0"/>
                <a:ea typeface="Calibri" panose="020F0502020204030204" pitchFamily="34" charset="0"/>
                <a:cs typeface="Times New Roman" panose="02020603050405020304" pitchFamily="18" charset="0"/>
              </a:rPr>
              <a:t>Separate course section for teachers</a:t>
            </a:r>
          </a:p>
          <a:p>
            <a:pPr marL="742950" lvl="1" indent="-285750">
              <a:lnSpc>
                <a:spcPct val="150000"/>
              </a:lnSpc>
              <a:buFont typeface="Arial" panose="020B0604020202020204" pitchFamily="34" charset="0"/>
              <a:buChar char="•"/>
            </a:pPr>
            <a:r>
              <a:rPr lang="en-GB" sz="2400" dirty="0">
                <a:latin typeface="Arial Rounded MT Bold" panose="020F0704030504030204" pitchFamily="34" charset="0"/>
                <a:ea typeface="Calibri" panose="020F0502020204030204" pitchFamily="34" charset="0"/>
                <a:cs typeface="Times New Roman" panose="02020603050405020304" pitchFamily="18" charset="0"/>
              </a:rPr>
              <a:t>Create courses</a:t>
            </a:r>
          </a:p>
          <a:p>
            <a:pPr marL="742950" lvl="1" indent="-285750">
              <a:lnSpc>
                <a:spcPct val="150000"/>
              </a:lnSpc>
              <a:buFont typeface="Arial" panose="020B0604020202020204" pitchFamily="34" charset="0"/>
              <a:buChar char="•"/>
            </a:pPr>
            <a:r>
              <a:rPr lang="en-GB" sz="2400" dirty="0">
                <a:latin typeface="Arial Rounded MT Bold" panose="020F0704030504030204" pitchFamily="34" charset="0"/>
                <a:ea typeface="Calibri" panose="020F0502020204030204" pitchFamily="34" charset="0"/>
                <a:cs typeface="Times New Roman" panose="02020603050405020304" pitchFamily="18" charset="0"/>
              </a:rPr>
              <a:t>Strengthen up their in-site portfolios</a:t>
            </a:r>
          </a:p>
          <a:p>
            <a:pPr lvl="1">
              <a:lnSpc>
                <a:spcPct val="150000"/>
              </a:lnSpc>
            </a:pPr>
            <a:endParaRPr lang="en-GB" sz="2400" dirty="0">
              <a:latin typeface="Arial Rounded MT Bold" panose="020F07040305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576596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C802D5-4EF4-4B4B-AF69-FDD9012F012B}"/>
              </a:ext>
            </a:extLst>
          </p:cNvPr>
          <p:cNvSpPr/>
          <p:nvPr/>
        </p:nvSpPr>
        <p:spPr>
          <a:xfrm>
            <a:off x="2015066" y="1177011"/>
            <a:ext cx="8161867" cy="45039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556E3217-0877-4DA5-937B-A91EA55E272F}"/>
              </a:ext>
            </a:extLst>
          </p:cNvPr>
          <p:cNvSpPr/>
          <p:nvPr/>
        </p:nvSpPr>
        <p:spPr>
          <a:xfrm>
            <a:off x="3951614" y="1177011"/>
            <a:ext cx="4288803"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Social Benefits</a:t>
            </a:r>
            <a:endParaRPr lang="en-GB" sz="4400" dirty="0">
              <a:ln w="0"/>
              <a:effectLst>
                <a:outerShdw blurRad="38100" dist="19050" dir="2700000" algn="tl" rotWithShape="0">
                  <a:schemeClr val="dk1">
                    <a:alpha val="40000"/>
                  </a:schemeClr>
                </a:outerShdw>
              </a:effectLst>
            </a:endParaRPr>
          </a:p>
        </p:txBody>
      </p:sp>
      <p:sp>
        <p:nvSpPr>
          <p:cNvPr id="4" name="TextBox 3">
            <a:extLst>
              <a:ext uri="{FF2B5EF4-FFF2-40B4-BE49-F238E27FC236}">
                <a16:creationId xmlns:a16="http://schemas.microsoft.com/office/drawing/2014/main" id="{14848820-CBB2-4245-B383-F3C8D8830381}"/>
              </a:ext>
            </a:extLst>
          </p:cNvPr>
          <p:cNvSpPr txBox="1"/>
          <p:nvPr/>
        </p:nvSpPr>
        <p:spPr>
          <a:xfrm>
            <a:off x="2475328" y="2994040"/>
            <a:ext cx="7241341" cy="128541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Reduce trouble for students with necessary academic needs</a:t>
            </a: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Temporary solution for unemployment problems</a:t>
            </a:r>
          </a:p>
          <a:p>
            <a:pPr marL="285750" indent="-285750">
              <a:lnSpc>
                <a:spcPct val="150000"/>
              </a:lnSpc>
              <a:buFont typeface="Arial" panose="020B0604020202020204" pitchFamily="34" charset="0"/>
              <a:buChar char="•"/>
            </a:pPr>
            <a:r>
              <a:rPr lang="en-GB" dirty="0">
                <a:latin typeface="Arial Rounded MT Bold" panose="020F0704030504030204" pitchFamily="34" charset="0"/>
                <a:cs typeface="Times New Roman" panose="02020603050405020304" pitchFamily="18" charset="0"/>
              </a:rPr>
              <a:t>Great earning platform for instructors</a:t>
            </a:r>
          </a:p>
        </p:txBody>
      </p:sp>
    </p:spTree>
    <p:extLst>
      <p:ext uri="{BB962C8B-B14F-4D97-AF65-F5344CB8AC3E}">
        <p14:creationId xmlns:p14="http://schemas.microsoft.com/office/powerpoint/2010/main" val="3038180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9281C0-D5D6-4DDC-B439-F64963750C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4406" y="1867958"/>
            <a:ext cx="8823188" cy="3550708"/>
          </a:xfrm>
          <a:prstGeom prst="rect">
            <a:avLst/>
          </a:prstGeom>
        </p:spPr>
      </p:pic>
      <p:sp>
        <p:nvSpPr>
          <p:cNvPr id="4" name="Rectangle 3">
            <a:extLst>
              <a:ext uri="{FF2B5EF4-FFF2-40B4-BE49-F238E27FC236}">
                <a16:creationId xmlns:a16="http://schemas.microsoft.com/office/drawing/2014/main" id="{B17A4944-98B4-48E3-9F29-E8D412A3BF17}"/>
              </a:ext>
            </a:extLst>
          </p:cNvPr>
          <p:cNvSpPr/>
          <p:nvPr/>
        </p:nvSpPr>
        <p:spPr>
          <a:xfrm>
            <a:off x="1430866" y="677332"/>
            <a:ext cx="9330268" cy="55033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1DB7C032-EF9F-44A0-BC8E-4B68ABDCA042}"/>
              </a:ext>
            </a:extLst>
          </p:cNvPr>
          <p:cNvSpPr/>
          <p:nvPr/>
        </p:nvSpPr>
        <p:spPr>
          <a:xfrm>
            <a:off x="4019181" y="887925"/>
            <a:ext cx="4153638"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Class Diagram</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9799879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023D9D-F740-CEC5-17CF-34680E2D4EC9}"/>
              </a:ext>
            </a:extLst>
          </p:cNvPr>
          <p:cNvSpPr txBox="1"/>
          <p:nvPr/>
        </p:nvSpPr>
        <p:spPr>
          <a:xfrm>
            <a:off x="885717" y="1534019"/>
            <a:ext cx="3396344" cy="3139321"/>
          </a:xfrm>
          <a:prstGeom prst="rect">
            <a:avLst/>
          </a:prstGeom>
          <a:noFill/>
        </p:spPr>
        <p:txBody>
          <a:bodyPr wrap="square" rtlCol="0">
            <a:spAutoFit/>
          </a:bodyPr>
          <a:lstStyle/>
          <a:p>
            <a:r>
              <a:rPr lang="en-US" dirty="0">
                <a:latin typeface="Arial Rounded MT Bold" panose="020F0704030504030204" pitchFamily="34" charset="0"/>
              </a:rPr>
              <a:t>User Table:</a:t>
            </a:r>
          </a:p>
          <a:p>
            <a:pPr marL="285750" indent="-285750">
              <a:buFont typeface="Arial" panose="020B0604020202020204" pitchFamily="34" charset="0"/>
              <a:buChar char="•"/>
            </a:pPr>
            <a:r>
              <a:rPr lang="en-US" sz="1600" dirty="0" err="1">
                <a:latin typeface="Arial Rounded MT Bold" panose="020F0704030504030204" pitchFamily="34" charset="0"/>
              </a:rPr>
              <a:t>User_Id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a:latin typeface="Arial Rounded MT Bold" panose="020F0704030504030204" pitchFamily="34" charset="0"/>
              </a:rPr>
              <a:t>Name: varchar(255)</a:t>
            </a:r>
          </a:p>
          <a:p>
            <a:pPr marL="285750" indent="-285750">
              <a:buFont typeface="Arial" panose="020B0604020202020204" pitchFamily="34" charset="0"/>
              <a:buChar char="•"/>
            </a:pPr>
            <a:r>
              <a:rPr lang="en-US" sz="1600" dirty="0">
                <a:latin typeface="Arial Rounded MT Bold" panose="020F0704030504030204" pitchFamily="34" charset="0"/>
              </a:rPr>
              <a:t>Email: varchar(255)</a:t>
            </a:r>
          </a:p>
          <a:p>
            <a:pPr marL="285750" indent="-285750">
              <a:buFont typeface="Arial" panose="020B0604020202020204" pitchFamily="34" charset="0"/>
              <a:buChar char="•"/>
            </a:pPr>
            <a:r>
              <a:rPr lang="en-US" sz="1600" dirty="0">
                <a:latin typeface="Arial Rounded MT Bold" panose="020F0704030504030204" pitchFamily="34" charset="0"/>
              </a:rPr>
              <a:t>Password: varchar(255)</a:t>
            </a:r>
          </a:p>
          <a:p>
            <a:pPr marL="285750" indent="-285750">
              <a:buFont typeface="Arial" panose="020B0604020202020204" pitchFamily="34" charset="0"/>
              <a:buChar char="•"/>
            </a:pPr>
            <a:r>
              <a:rPr lang="en-US" sz="1600" dirty="0" err="1">
                <a:latin typeface="Arial Rounded MT Bold" panose="020F0704030504030204" pitchFamily="34" charset="0"/>
              </a:rPr>
              <a:t>User_Type</a:t>
            </a:r>
            <a:r>
              <a:rPr lang="en-US" sz="1600" dirty="0">
                <a:latin typeface="Arial Rounded MT Bold" panose="020F0704030504030204" pitchFamily="34" charset="0"/>
              </a:rPr>
              <a:t>: varchar(50)</a:t>
            </a:r>
          </a:p>
          <a:p>
            <a:pPr marL="285750" indent="-285750">
              <a:buFont typeface="Arial" panose="020B0604020202020204" pitchFamily="34" charset="0"/>
              <a:buChar char="•"/>
            </a:pPr>
            <a:endParaRPr lang="en-US" dirty="0">
              <a:latin typeface="Arial Rounded MT Bold" panose="020F0704030504030204" pitchFamily="34" charset="0"/>
            </a:endParaRPr>
          </a:p>
          <a:p>
            <a:r>
              <a:rPr lang="en-US" dirty="0">
                <a:latin typeface="Arial Rounded MT Bold" panose="020F0704030504030204" pitchFamily="34" charset="0"/>
              </a:rPr>
              <a:t>Course Table:</a:t>
            </a:r>
          </a:p>
          <a:p>
            <a:pPr marL="285750" indent="-285750">
              <a:buFont typeface="Arial" panose="020B0604020202020204" pitchFamily="34" charset="0"/>
              <a:buChar char="•"/>
            </a:pPr>
            <a:r>
              <a:rPr lang="en-US" sz="1600" dirty="0" err="1">
                <a:latin typeface="Arial Rounded MT Bold" panose="020F0704030504030204" pitchFamily="34" charset="0"/>
              </a:rPr>
              <a:t>Course_Id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Course_Name</a:t>
            </a:r>
            <a:r>
              <a:rPr lang="en-US" sz="1600" dirty="0">
                <a:latin typeface="Arial Rounded MT Bold" panose="020F0704030504030204" pitchFamily="34" charset="0"/>
              </a:rPr>
              <a:t>: varchar(255)</a:t>
            </a:r>
          </a:p>
          <a:p>
            <a:pPr marL="285750" indent="-285750">
              <a:buFont typeface="Arial" panose="020B0604020202020204" pitchFamily="34" charset="0"/>
              <a:buChar char="•"/>
            </a:pPr>
            <a:r>
              <a:rPr lang="en-US" sz="1600" dirty="0">
                <a:latin typeface="Arial Rounded MT Bold" panose="020F0704030504030204" pitchFamily="34" charset="0"/>
              </a:rPr>
              <a:t>Description: text</a:t>
            </a:r>
          </a:p>
          <a:p>
            <a:pPr marL="285750" indent="-285750">
              <a:buFont typeface="Arial" panose="020B0604020202020204" pitchFamily="34" charset="0"/>
              <a:buChar char="•"/>
            </a:pPr>
            <a:r>
              <a:rPr lang="en-US" sz="1600" dirty="0" err="1">
                <a:latin typeface="Arial Rounded MT Bold" panose="020F0704030504030204" pitchFamily="34" charset="0"/>
              </a:rPr>
              <a:t>Tutor_Id</a:t>
            </a:r>
            <a:r>
              <a:rPr lang="en-US" sz="1600" dirty="0">
                <a:latin typeface="Arial Rounded MT Bold" panose="020F0704030504030204" pitchFamily="34" charset="0"/>
              </a:rPr>
              <a:t>: int</a:t>
            </a:r>
          </a:p>
        </p:txBody>
      </p:sp>
      <p:sp>
        <p:nvSpPr>
          <p:cNvPr id="3" name="TextBox 2">
            <a:extLst>
              <a:ext uri="{FF2B5EF4-FFF2-40B4-BE49-F238E27FC236}">
                <a16:creationId xmlns:a16="http://schemas.microsoft.com/office/drawing/2014/main" id="{F84E2A53-0E81-5CAE-A3B1-67B31A3556E6}"/>
              </a:ext>
            </a:extLst>
          </p:cNvPr>
          <p:cNvSpPr txBox="1"/>
          <p:nvPr/>
        </p:nvSpPr>
        <p:spPr>
          <a:xfrm>
            <a:off x="4773818" y="822553"/>
            <a:ext cx="3281265" cy="5139869"/>
          </a:xfrm>
          <a:prstGeom prst="rect">
            <a:avLst/>
          </a:prstGeom>
          <a:noFill/>
        </p:spPr>
        <p:txBody>
          <a:bodyPr wrap="square" rtlCol="0">
            <a:spAutoFit/>
          </a:bodyPr>
          <a:lstStyle/>
          <a:p>
            <a:r>
              <a:rPr lang="en-US" dirty="0">
                <a:latin typeface="Arial Rounded MT Bold" panose="020F0704030504030204" pitchFamily="34" charset="0"/>
              </a:rPr>
              <a:t>Class Table</a:t>
            </a:r>
          </a:p>
          <a:p>
            <a:pPr marL="285750" indent="-285750">
              <a:buFont typeface="Arial" panose="020B0604020202020204" pitchFamily="34" charset="0"/>
              <a:buChar char="•"/>
            </a:pPr>
            <a:r>
              <a:rPr lang="en-US" sz="1600" dirty="0" err="1">
                <a:latin typeface="Arial Rounded MT Bold" panose="020F0704030504030204" pitchFamily="34" charset="0"/>
              </a:rPr>
              <a:t>Class_Id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Course_Id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Class_Date</a:t>
            </a:r>
            <a:r>
              <a:rPr lang="en-US" sz="1600" dirty="0">
                <a:latin typeface="Arial Rounded MT Bold" panose="020F0704030504030204" pitchFamily="34" charset="0"/>
              </a:rPr>
              <a:t>: datetime</a:t>
            </a:r>
          </a:p>
          <a:p>
            <a:pPr marL="285750" indent="-285750">
              <a:buFont typeface="Arial" panose="020B0604020202020204" pitchFamily="34" charset="0"/>
              <a:buChar char="•"/>
            </a:pPr>
            <a:r>
              <a:rPr lang="en-US" sz="1600" dirty="0" err="1">
                <a:latin typeface="Arial Rounded MT Bold" panose="020F0704030504030204" pitchFamily="34" charset="0"/>
              </a:rPr>
              <a:t>Start_Time</a:t>
            </a:r>
            <a:r>
              <a:rPr lang="en-US" sz="1600" dirty="0">
                <a:latin typeface="Arial Rounded MT Bold" panose="020F0704030504030204" pitchFamily="34" charset="0"/>
              </a:rPr>
              <a:t>: time</a:t>
            </a:r>
          </a:p>
          <a:p>
            <a:pPr marL="285750" indent="-285750">
              <a:buFont typeface="Arial" panose="020B0604020202020204" pitchFamily="34" charset="0"/>
              <a:buChar char="•"/>
            </a:pPr>
            <a:r>
              <a:rPr lang="en-US" sz="1600" dirty="0" err="1">
                <a:latin typeface="Arial Rounded MT Bold" panose="020F0704030504030204" pitchFamily="34" charset="0"/>
              </a:rPr>
              <a:t>End_Time</a:t>
            </a:r>
            <a:r>
              <a:rPr lang="en-US" sz="1600" dirty="0">
                <a:latin typeface="Arial Rounded MT Bold" panose="020F0704030504030204" pitchFamily="34" charset="0"/>
              </a:rPr>
              <a:t>: time</a:t>
            </a:r>
          </a:p>
          <a:p>
            <a:pPr marL="285750" indent="-285750">
              <a:buFont typeface="Arial" panose="020B0604020202020204" pitchFamily="34" charset="0"/>
              <a:buChar char="•"/>
            </a:pPr>
            <a:endParaRPr lang="en-US" sz="1600" dirty="0">
              <a:latin typeface="Arial Rounded MT Bold" panose="020F0704030504030204" pitchFamily="34" charset="0"/>
            </a:endParaRPr>
          </a:p>
          <a:p>
            <a:r>
              <a:rPr lang="en-US" dirty="0">
                <a:latin typeface="Arial Rounded MT Bold" panose="020F0704030504030204" pitchFamily="34" charset="0"/>
              </a:rPr>
              <a:t>Enrollment Table:</a:t>
            </a:r>
          </a:p>
          <a:p>
            <a:pPr marL="285750" indent="-285750">
              <a:buFont typeface="Arial" panose="020B0604020202020204" pitchFamily="34" charset="0"/>
              <a:buChar char="•"/>
            </a:pPr>
            <a:r>
              <a:rPr lang="en-US" sz="1600" dirty="0" err="1">
                <a:latin typeface="Arial Rounded MT Bold" panose="020F0704030504030204" pitchFamily="34" charset="0"/>
              </a:rPr>
              <a:t>Enrollment_Id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User_Id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Course_Id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a:latin typeface="Arial Rounded MT Bold" panose="020F0704030504030204" pitchFamily="34" charset="0"/>
              </a:rPr>
              <a:t>Progress: varchar(50)</a:t>
            </a:r>
          </a:p>
          <a:p>
            <a:pPr marL="285750" indent="-285750">
              <a:buFont typeface="Arial" panose="020B0604020202020204" pitchFamily="34" charset="0"/>
              <a:buChar char="•"/>
            </a:pPr>
            <a:endParaRPr lang="en-US" sz="1600" dirty="0">
              <a:latin typeface="Arial Rounded MT Bold" panose="020F0704030504030204" pitchFamily="34" charset="0"/>
            </a:endParaRPr>
          </a:p>
          <a:p>
            <a:r>
              <a:rPr lang="en-US" dirty="0">
                <a:latin typeface="Arial Rounded MT Bold" panose="020F0704030504030204" pitchFamily="34" charset="0"/>
              </a:rPr>
              <a:t>Feedback Table:</a:t>
            </a:r>
          </a:p>
          <a:p>
            <a:pPr marL="285750" indent="-285750">
              <a:buFont typeface="Wingdings" panose="05000000000000000000" pitchFamily="2" charset="2"/>
              <a:buChar char="§"/>
            </a:pPr>
            <a:r>
              <a:rPr lang="en-US" sz="1600" dirty="0" err="1">
                <a:latin typeface="Arial Rounded MT Bold" panose="020F0704030504030204" pitchFamily="34" charset="0"/>
              </a:rPr>
              <a:t>Feedback_Id</a:t>
            </a:r>
            <a:r>
              <a:rPr lang="en-US" sz="1600" dirty="0">
                <a:latin typeface="Arial Rounded MT Bold" panose="020F0704030504030204" pitchFamily="34" charset="0"/>
              </a:rPr>
              <a:t>: int</a:t>
            </a:r>
          </a:p>
          <a:p>
            <a:pPr marL="285750" indent="-285750">
              <a:buFont typeface="Wingdings" panose="05000000000000000000" pitchFamily="2" charset="2"/>
              <a:buChar char="§"/>
            </a:pPr>
            <a:r>
              <a:rPr lang="en-US" sz="1600" dirty="0" err="1">
                <a:latin typeface="Arial Rounded MT Bold" panose="020F0704030504030204" pitchFamily="34" charset="0"/>
              </a:rPr>
              <a:t>User_Id</a:t>
            </a:r>
            <a:r>
              <a:rPr lang="en-US" sz="1600" dirty="0">
                <a:latin typeface="Arial Rounded MT Bold" panose="020F0704030504030204" pitchFamily="34" charset="0"/>
              </a:rPr>
              <a:t>: int</a:t>
            </a:r>
          </a:p>
          <a:p>
            <a:pPr marL="285750" indent="-285750">
              <a:buFont typeface="Wingdings" panose="05000000000000000000" pitchFamily="2" charset="2"/>
              <a:buChar char="§"/>
            </a:pPr>
            <a:r>
              <a:rPr lang="en-US" sz="1600" dirty="0" err="1">
                <a:latin typeface="Arial Rounded MT Bold" panose="020F0704030504030204" pitchFamily="34" charset="0"/>
              </a:rPr>
              <a:t>Course_Id</a:t>
            </a:r>
            <a:r>
              <a:rPr lang="en-US" sz="1600" dirty="0">
                <a:latin typeface="Arial Rounded MT Bold" panose="020F0704030504030204" pitchFamily="34" charset="0"/>
              </a:rPr>
              <a:t>: int</a:t>
            </a:r>
          </a:p>
          <a:p>
            <a:pPr marL="285750" indent="-285750">
              <a:buFont typeface="Wingdings" panose="05000000000000000000" pitchFamily="2" charset="2"/>
              <a:buChar char="§"/>
            </a:pPr>
            <a:r>
              <a:rPr lang="en-US" sz="1600" dirty="0">
                <a:latin typeface="Arial Rounded MT Bold" panose="020F0704030504030204" pitchFamily="34" charset="0"/>
              </a:rPr>
              <a:t>Rating: int</a:t>
            </a:r>
          </a:p>
          <a:p>
            <a:pPr marL="285750" indent="-285750">
              <a:buFont typeface="Wingdings" panose="05000000000000000000" pitchFamily="2" charset="2"/>
              <a:buChar char="§"/>
            </a:pPr>
            <a:r>
              <a:rPr lang="en-US" sz="1600" dirty="0">
                <a:latin typeface="Arial Rounded MT Bold" panose="020F0704030504030204" pitchFamily="34" charset="0"/>
              </a:rPr>
              <a:t>Comments: text</a:t>
            </a:r>
          </a:p>
          <a:p>
            <a:endParaRPr lang="en-US" dirty="0">
              <a:latin typeface="Arial Rounded MT Bold" panose="020F0704030504030204" pitchFamily="34" charset="0"/>
            </a:endParaRPr>
          </a:p>
        </p:txBody>
      </p:sp>
      <p:sp>
        <p:nvSpPr>
          <p:cNvPr id="4" name="TextBox 3">
            <a:extLst>
              <a:ext uri="{FF2B5EF4-FFF2-40B4-BE49-F238E27FC236}">
                <a16:creationId xmlns:a16="http://schemas.microsoft.com/office/drawing/2014/main" id="{F6C9DAF9-9CBE-F3A7-2707-CBDBB048278E}"/>
              </a:ext>
            </a:extLst>
          </p:cNvPr>
          <p:cNvSpPr txBox="1"/>
          <p:nvPr/>
        </p:nvSpPr>
        <p:spPr>
          <a:xfrm>
            <a:off x="8546840" y="2228286"/>
            <a:ext cx="3396344" cy="2123658"/>
          </a:xfrm>
          <a:prstGeom prst="rect">
            <a:avLst/>
          </a:prstGeom>
          <a:noFill/>
        </p:spPr>
        <p:txBody>
          <a:bodyPr wrap="square" rtlCol="0">
            <a:spAutoFit/>
          </a:bodyPr>
          <a:lstStyle/>
          <a:p>
            <a:r>
              <a:rPr lang="en-US" dirty="0">
                <a:latin typeface="Arial Rounded MT Bold" panose="020F0704030504030204" pitchFamily="34" charset="0"/>
              </a:rPr>
              <a:t>Certificate Table:</a:t>
            </a:r>
          </a:p>
          <a:p>
            <a:pPr marL="285750" indent="-285750">
              <a:buFont typeface="Arial" panose="020B0604020202020204" pitchFamily="34" charset="0"/>
              <a:buChar char="•"/>
            </a:pPr>
            <a:r>
              <a:rPr lang="en-US" sz="1600" dirty="0" err="1">
                <a:latin typeface="Arial Rounded MT Bold" panose="020F0704030504030204" pitchFamily="34" charset="0"/>
              </a:rPr>
              <a:t>Certificate_Id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User_Id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Course_Id</a:t>
            </a:r>
            <a:r>
              <a:rPr lang="en-US" sz="1600" dirty="0">
                <a:latin typeface="Arial Rounded MT Bold" panose="020F0704030504030204" pitchFamily="34" charset="0"/>
              </a:rPr>
              <a:t>: int</a:t>
            </a:r>
          </a:p>
          <a:p>
            <a:pPr marL="285750" indent="-285750">
              <a:buFont typeface="Arial" panose="020B0604020202020204" pitchFamily="34" charset="0"/>
              <a:buChar char="•"/>
            </a:pPr>
            <a:r>
              <a:rPr lang="en-US" sz="1600" dirty="0" err="1">
                <a:latin typeface="Arial Rounded MT Bold" panose="020F0704030504030204" pitchFamily="34" charset="0"/>
              </a:rPr>
              <a:t>Issue_Date</a:t>
            </a:r>
            <a:r>
              <a:rPr lang="en-US" sz="1600" dirty="0">
                <a:latin typeface="Arial Rounded MT Bold" panose="020F0704030504030204" pitchFamily="34" charset="0"/>
              </a:rPr>
              <a:t>: datetime</a:t>
            </a:r>
          </a:p>
          <a:p>
            <a:pPr marL="285750" indent="-285750">
              <a:buFont typeface="Arial" panose="020B0604020202020204" pitchFamily="34" charset="0"/>
              <a:buChar char="•"/>
            </a:pPr>
            <a:r>
              <a:rPr lang="en-US" sz="1600" dirty="0">
                <a:latin typeface="Arial Rounded MT Bold" panose="020F0704030504030204" pitchFamily="34" charset="0"/>
              </a:rPr>
              <a:t>Validity: int</a:t>
            </a:r>
          </a:p>
          <a:p>
            <a:pPr marL="285750" indent="-285750">
              <a:buFont typeface="Arial" panose="020B0604020202020204" pitchFamily="34" charset="0"/>
              <a:buChar char="•"/>
            </a:pPr>
            <a:r>
              <a:rPr lang="en-US" sz="1600" dirty="0">
                <a:latin typeface="Arial Rounded MT Bold" panose="020F0704030504030204" pitchFamily="34" charset="0"/>
              </a:rPr>
              <a:t>Grade: varchar(50)</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752695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03120-50DE-FB3D-9678-27EB9A728BF4}"/>
              </a:ext>
            </a:extLst>
          </p:cNvPr>
          <p:cNvSpPr>
            <a:spLocks noGrp="1"/>
          </p:cNvSpPr>
          <p:nvPr>
            <p:ph idx="1"/>
          </p:nvPr>
        </p:nvSpPr>
        <p:spPr>
          <a:xfrm>
            <a:off x="2277532" y="2241331"/>
            <a:ext cx="7984067" cy="2670218"/>
          </a:xfrm>
        </p:spPr>
        <p:txBody>
          <a:bodyPr>
            <a:normAutofit fontScale="92500" lnSpcReduction="10000"/>
          </a:bodyPr>
          <a:lstStyle/>
          <a:p>
            <a:pPr marL="36900" indent="0">
              <a:buNone/>
            </a:pPr>
            <a:r>
              <a:rPr lang="en-US" sz="2800" dirty="0">
                <a:solidFill>
                  <a:schemeClr val="tx1"/>
                </a:solidFill>
                <a:latin typeface="Arial Rounded MT Bold" panose="020F0704030504030204" pitchFamily="34" charset="0"/>
                <a:cs typeface="Times New Roman" panose="02020603050405020304" pitchFamily="18" charset="0"/>
              </a:rPr>
              <a:t>The platform benefits both students and tutors by: </a:t>
            </a:r>
          </a:p>
          <a:p>
            <a:r>
              <a:rPr lang="en-US" sz="2800" dirty="0">
                <a:solidFill>
                  <a:schemeClr val="tx1"/>
                </a:solidFill>
                <a:latin typeface="Arial Rounded MT Bold" panose="020F0704030504030204" pitchFamily="34" charset="0"/>
                <a:cs typeface="Times New Roman" panose="02020603050405020304" pitchFamily="18" charset="0"/>
              </a:rPr>
              <a:t>Allowing students to take classes from the comfort of their homes. </a:t>
            </a:r>
          </a:p>
          <a:p>
            <a:r>
              <a:rPr lang="en-US" sz="2800" dirty="0">
                <a:solidFill>
                  <a:schemeClr val="tx1"/>
                </a:solidFill>
                <a:latin typeface="Arial Rounded MT Bold" panose="020F0704030504030204" pitchFamily="34" charset="0"/>
                <a:cs typeface="Times New Roman" panose="02020603050405020304" pitchFamily="18" charset="0"/>
              </a:rPr>
              <a:t>Providing tutors with a wider audience and flexible teaching options.</a:t>
            </a:r>
          </a:p>
        </p:txBody>
      </p:sp>
      <p:sp>
        <p:nvSpPr>
          <p:cNvPr id="4" name="Rectangle 3">
            <a:extLst>
              <a:ext uri="{FF2B5EF4-FFF2-40B4-BE49-F238E27FC236}">
                <a16:creationId xmlns:a16="http://schemas.microsoft.com/office/drawing/2014/main" id="{7FD0A4FF-1C5E-4433-9AB2-9DDEA6F5AFB8}"/>
              </a:ext>
            </a:extLst>
          </p:cNvPr>
          <p:cNvSpPr/>
          <p:nvPr/>
        </p:nvSpPr>
        <p:spPr>
          <a:xfrm>
            <a:off x="2015066" y="1177011"/>
            <a:ext cx="8161867" cy="45039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AD15BB09-9422-41F3-A28A-298022EA3149}"/>
              </a:ext>
            </a:extLst>
          </p:cNvPr>
          <p:cNvSpPr/>
          <p:nvPr/>
        </p:nvSpPr>
        <p:spPr>
          <a:xfrm>
            <a:off x="4475020" y="1177011"/>
            <a:ext cx="3241978" cy="769441"/>
          </a:xfrm>
          <a:prstGeom prst="rect">
            <a:avLst/>
          </a:prstGeom>
          <a:noFill/>
        </p:spPr>
        <p:txBody>
          <a:bodyPr wrap="none" lIns="91440" tIns="45720" rIns="91440" bIns="45720">
            <a:spAutoFit/>
          </a:bodyPr>
          <a:lstStyle/>
          <a:p>
            <a:pPr algn="ctr"/>
            <a:r>
              <a:rPr lang="en-GB" sz="4400" dirty="0">
                <a:ln w="0"/>
                <a:effectLst>
                  <a:outerShdw blurRad="38100" dist="19050" dir="2700000" algn="tl" rotWithShape="0">
                    <a:schemeClr val="dk1">
                      <a:alpha val="40000"/>
                    </a:schemeClr>
                  </a:outerShdw>
                </a:effectLst>
                <a:latin typeface="Arial Rounded MT Bold" panose="020F0704030504030204" pitchFamily="34" charset="0"/>
              </a:rPr>
              <a:t>Conclusion</a:t>
            </a:r>
            <a:endParaRPr lang="en-GB" sz="4400" dirty="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54139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A4C7E1-7A21-457C-9C11-080DC3D9C538}"/>
              </a:ext>
            </a:extLst>
          </p:cNvPr>
          <p:cNvSpPr txBox="1"/>
          <p:nvPr/>
        </p:nvSpPr>
        <p:spPr>
          <a:xfrm>
            <a:off x="2421365" y="2615994"/>
            <a:ext cx="3021982" cy="1015663"/>
          </a:xfrm>
          <a:prstGeom prst="rect">
            <a:avLst/>
          </a:prstGeom>
          <a:noFill/>
        </p:spPr>
        <p:txBody>
          <a:bodyPr wrap="none" rtlCol="0">
            <a:spAutoFit/>
          </a:bodyPr>
          <a:lstStyle/>
          <a:p>
            <a:pPr algn="ctr"/>
            <a:r>
              <a:rPr lang="en-GB" sz="60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Section</a:t>
            </a:r>
          </a:p>
        </p:txBody>
      </p:sp>
      <p:sp>
        <p:nvSpPr>
          <p:cNvPr id="3" name="Rectangle 2">
            <a:extLst>
              <a:ext uri="{FF2B5EF4-FFF2-40B4-BE49-F238E27FC236}">
                <a16:creationId xmlns:a16="http://schemas.microsoft.com/office/drawing/2014/main" id="{47D6EEE1-1736-44A1-8269-64639EC1A070}"/>
              </a:ext>
            </a:extLst>
          </p:cNvPr>
          <p:cNvSpPr/>
          <p:nvPr/>
        </p:nvSpPr>
        <p:spPr>
          <a:xfrm>
            <a:off x="2650849" y="1808284"/>
            <a:ext cx="1757212" cy="923330"/>
          </a:xfrm>
          <a:prstGeom prst="rect">
            <a:avLst/>
          </a:prstGeom>
          <a:noFill/>
        </p:spPr>
        <p:txBody>
          <a:bodyPr wrap="none" lIns="91440" tIns="45720" rIns="91440" bIns="45720">
            <a:spAutoFit/>
          </a:bodyPr>
          <a:lstStyle/>
          <a:p>
            <a:pPr algn="ctr"/>
            <a:r>
              <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Q&amp;A</a:t>
            </a:r>
          </a:p>
        </p:txBody>
      </p:sp>
      <p:sp>
        <p:nvSpPr>
          <p:cNvPr id="4" name="TextBox 3">
            <a:extLst>
              <a:ext uri="{FF2B5EF4-FFF2-40B4-BE49-F238E27FC236}">
                <a16:creationId xmlns:a16="http://schemas.microsoft.com/office/drawing/2014/main" id="{9290D86D-47D4-4BCE-A88A-770826C0797E}"/>
              </a:ext>
            </a:extLst>
          </p:cNvPr>
          <p:cNvSpPr txBox="1"/>
          <p:nvPr/>
        </p:nvSpPr>
        <p:spPr>
          <a:xfrm>
            <a:off x="2232583" y="3539324"/>
            <a:ext cx="5445722" cy="923330"/>
          </a:xfrm>
          <a:prstGeom prst="rect">
            <a:avLst/>
          </a:prstGeom>
          <a:noFill/>
        </p:spPr>
        <p:txBody>
          <a:bodyPr wrap="none" rtlCol="0">
            <a:spAutoFit/>
          </a:bodyPr>
          <a:lstStyle/>
          <a:p>
            <a:pPr algn="ctr"/>
            <a:r>
              <a:rPr lang="en-GB"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Arial Rounded MT Bold" panose="020F0704030504030204" pitchFamily="34" charset="0"/>
              </a:rPr>
              <a:t>Any </a:t>
            </a:r>
            <a:r>
              <a:rPr lang="en-GB" sz="5400" b="1" dirty="0">
                <a:ln w="10160">
                  <a:solidFill>
                    <a:schemeClr val="accent5"/>
                  </a:solidFill>
                  <a:prstDash val="solid"/>
                </a:ln>
                <a:solidFill>
                  <a:srgbClr val="FF0000"/>
                </a:solidFill>
                <a:effectLst>
                  <a:outerShdw blurRad="38100" dist="22860" dir="5400000" algn="tl" rotWithShape="0">
                    <a:srgbClr val="000000">
                      <a:alpha val="30000"/>
                    </a:srgbClr>
                  </a:outerShdw>
                </a:effectLst>
                <a:latin typeface="Arial Rounded MT Bold" panose="020F0704030504030204" pitchFamily="34" charset="0"/>
              </a:rPr>
              <a:t>Questions?</a:t>
            </a:r>
          </a:p>
        </p:txBody>
      </p:sp>
    </p:spTree>
    <p:extLst>
      <p:ext uri="{BB962C8B-B14F-4D97-AF65-F5344CB8AC3E}">
        <p14:creationId xmlns:p14="http://schemas.microsoft.com/office/powerpoint/2010/main" val="38071861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2013 - 2022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Override1.xml><?xml version="1.0" encoding="utf-8"?>
<a:themeOverride xmlns:a="http://schemas.openxmlformats.org/drawingml/2006/main">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themeOverride>
</file>

<file path=docProps/app.xml><?xml version="1.0" encoding="utf-8"?>
<Properties xmlns="http://schemas.openxmlformats.org/officeDocument/2006/extended-properties" xmlns:vt="http://schemas.openxmlformats.org/officeDocument/2006/docPropsVTypes">
  <Template/>
  <TotalTime>288</TotalTime>
  <Words>501</Words>
  <Application>Microsoft Office PowerPoint</Application>
  <PresentationFormat>Widescreen</PresentationFormat>
  <Paragraphs>100</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Arial Rounded MT Bold</vt:lpstr>
      <vt:lpstr>Calibri</vt:lpstr>
      <vt:lpstr>Calisto MT</vt:lpstr>
      <vt:lpstr>Wingdings</vt:lpstr>
      <vt:lpstr>Wingdings 2</vt:lpstr>
      <vt:lpstr>Slate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Nafis Fuad Barshan</dc:creator>
  <cp:lastModifiedBy>Nafis Fuad Barshan</cp:lastModifiedBy>
  <cp:revision>38</cp:revision>
  <dcterms:created xsi:type="dcterms:W3CDTF">2024-09-20T13:14:16Z</dcterms:created>
  <dcterms:modified xsi:type="dcterms:W3CDTF">2024-09-30T04:50:33Z</dcterms:modified>
</cp:coreProperties>
</file>